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억원</c:v>
                </c:pt>
              </c:strCache>
            </c:strRef>
          </c:tx>
          <c:spPr>
            <a:solidFill>
              <a:srgbClr val="193B53"/>
            </a:solidFill>
            <a:ln w="25400" cap="flat">
              <a:solidFill>
                <a:srgbClr val="193B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3B53"/>
              </a:solidFill>
              <a:ln w="9525" cap="flat">
                <a:solidFill>
                  <a:srgbClr val="193B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47</c:v>
                </c:pt>
                <c:pt idx="2">
                  <c:v>61</c:v>
                </c:pt>
                <c:pt idx="3">
                  <c:v>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93B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3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9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82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93B5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모바일 주문</c:v>
                  </c:pt>
                  <c:pt idx="1">
                    <c:v>매장 자동화</c:v>
                  </c:pt>
                  <c:pt idx="2">
                    <c:v>데이터 플랫폼</c:v>
                  </c:pt>
                  <c:pt idx="3">
                    <c:v>고객 경험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72</c:v>
                </c:pt>
                <c:pt idx="2">
                  <c:v>64</c:v>
                </c:pt>
                <c:pt idx="3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C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목표 달성률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9987"/>
              </a:solidFill>
              <a:effectLst/>
            </c:spPr>
          </c:dPt>
          <c:dPt>
            <c:idx val="1"/>
            <c:bubble3D val="0"/>
            <c:spPr>
              <a:solidFill>
                <a:srgbClr val="DCE5E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달성</c:v>
                </c:pt>
                <c:pt idx="1">
                  <c:v>잔여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억원</c:v>
                </c:pt>
              </c:strCache>
            </c:strRef>
          </c:tx>
          <c:spPr>
            <a:solidFill>
              <a:srgbClr val="193B53"/>
            </a:solidFill>
            <a:ln w="25400" cap="flat">
              <a:solidFill>
                <a:srgbClr val="193B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3B53"/>
              </a:solidFill>
              <a:ln w="9525" cap="flat">
                <a:solidFill>
                  <a:srgbClr val="193B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47</c:v>
                </c:pt>
                <c:pt idx="2">
                  <c:v>61</c:v>
                </c:pt>
                <c:pt idx="3">
                  <c:v>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93B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3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9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82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93B5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모바일 주문</c:v>
                  </c:pt>
                  <c:pt idx="1">
                    <c:v>매장 자동화</c:v>
                  </c:pt>
                  <c:pt idx="2">
                    <c:v>데이터 플랫폼</c:v>
                  </c:pt>
                  <c:pt idx="3">
                    <c:v>고객 경험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72</c:v>
                </c:pt>
                <c:pt idx="2">
                  <c:v>64</c:v>
                </c:pt>
                <c:pt idx="3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C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93B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3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9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82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93B5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47</c:v>
                </c:pt>
                <c:pt idx="2">
                  <c:v>61</c:v>
                </c:pt>
                <c:pt idx="3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193B53"/>
            </a:solidFill>
            <a:ln w="25400" cap="flat">
              <a:solidFill>
                <a:srgbClr val="193B5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93B53"/>
              </a:solidFill>
              <a:ln w="9525" cap="flat">
                <a:solidFill>
                  <a:srgbClr val="193B53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10</c:v>
                </c:pt>
                <c:pt idx="1">
                  <c:v>22</c:v>
                </c:pt>
                <c:pt idx="2">
                  <c:v>34</c:v>
                </c:pt>
                <c:pt idx="3">
                  <c:v>46</c:v>
                </c:pt>
                <c:pt idx="4">
                  <c:v>58</c:v>
                </c:pt>
                <c:pt idx="5">
                  <c:v>70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18</c:v>
                </c:pt>
                <c:pt idx="2">
                  <c:v>53</c:v>
                </c:pt>
                <c:pt idx="3">
                  <c:v>44</c:v>
                </c:pt>
                <c:pt idx="4">
                  <c:v>72</c:v>
                </c:pt>
                <c:pt idx="5">
                  <c:v>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DC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5EA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93B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3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9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82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93B5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강남</c:v>
                  </c:pt>
                  <c:pt idx="1">
                    <c:v>종로</c:v>
                  </c:pt>
                  <c:pt idx="2">
                    <c:v>마포</c:v>
                  </c:pt>
                  <c:pt idx="3">
                    <c:v>송파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C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A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목표 달성률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9987"/>
              </a:solidFill>
              <a:effectLst/>
            </c:spPr>
          </c:dPt>
          <c:dPt>
            <c:idx val="1"/>
            <c:bubble3D val="0"/>
            <c:spPr>
              <a:solidFill>
                <a:srgbClr val="63829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달성</c:v>
                </c:pt>
                <c:pt idx="1">
                  <c:v>잔여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2A99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98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9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82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98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강남</c:v>
                  </c:pt>
                  <c:pt idx="1">
                    <c:v>종로</c:v>
                  </c:pt>
                  <c:pt idx="2">
                    <c:v>마포</c:v>
                  </c:pt>
                  <c:pt idx="3">
                    <c:v>송파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63829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8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6382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8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억원</c:v>
                </c:pt>
              </c:strCache>
            </c:strRef>
          </c:tx>
          <c:spPr>
            <a:solidFill>
              <a:srgbClr val="2A9987"/>
            </a:solidFill>
            <a:ln w="25400" cap="flat">
              <a:solidFill>
                <a:srgbClr val="2A998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987"/>
              </a:solidFill>
              <a:ln w="9525" cap="flat">
                <a:solidFill>
                  <a:srgbClr val="2A998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47</c:v>
                </c:pt>
                <c:pt idx="2">
                  <c:v>61</c:v>
                </c:pt>
                <c:pt idx="3">
                  <c:v>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63829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8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382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8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00125"/>
            <a:ext cx="1047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&amp; EXECUTION / 2026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1762125"/>
            <a:ext cx="10858500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나은 매장 경험,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데이터에서 시작하다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3857625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Seven Eleven Digital Transformation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609600" y="4524375"/>
            <a:ext cx="1047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전환 추진 현황 및 실행 로드맵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Summary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10972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도입을 넘어, 매장 운영의 기준을 바꿉니다.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3714750"/>
            <a:ext cx="3505200" cy="1714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200" y="394335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38200" y="44577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접점의 디지털 연결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3714750"/>
            <a:ext cx="3505200" cy="1714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394335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572000" y="44577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기반 의사결정 정착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77200" y="3714750"/>
            <a:ext cx="3505200" cy="1714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5800" y="394335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305800" y="44577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 자동화와 현장 집중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지표로 보는 변화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성과와 실행 수준을 함께 관리합니다.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609600" y="2095500"/>
            <a:ext cx="3467100" cy="2857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200" y="2381250"/>
            <a:ext cx="3009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전환율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838200" y="3095625"/>
            <a:ext cx="3009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93B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74.3%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38200" y="4257675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8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+12.8%p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67200" y="2095500"/>
            <a:ext cx="3467100" cy="2857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5800" y="2381250"/>
            <a:ext cx="3009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점포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4495800" y="3095625"/>
            <a:ext cx="3009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93B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1,280개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495800" y="4257675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8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+240개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24800" y="2095500"/>
            <a:ext cx="3467100" cy="2857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3400" y="2381250"/>
            <a:ext cx="3009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시간 절감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8153400" y="3095625"/>
            <a:ext cx="3009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93B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153400" y="4257675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8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+8%p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채널, 성장의 중심으로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디지털 매출 추이</a:t>
            </a:r>
            <a:endParaRPr lang="en-US" sz="1425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09600" y="1809750"/>
          <a:ext cx="7429500" cy="3952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82000" y="20955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4Q 디지털 매출 78억원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82000" y="314325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1Q 대비 144% 성장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82000" y="41910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재구매 중심의 성장 구조 확보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과제별 실행 진척</a:t>
            </a:r>
            <a:endParaRPr lang="en-US" sz="285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09600" y="1809750"/>
          <a:ext cx="10972800" cy="3952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방식의 전환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09600" y="2000250"/>
            <a:ext cx="5295900" cy="3238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333625"/>
            <a:ext cx="4762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0" b="1" dirty="0">
                <a:solidFill>
                  <a:srgbClr val="193B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AS–IS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876300" y="3238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중심 의사결정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분산된 데이터 관리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수작업 기반 반복 업무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0" y="2000250"/>
            <a:ext cx="5295900" cy="3238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62700" y="2333625"/>
            <a:ext cx="4762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0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TO–BE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6362700" y="3238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중심 의사결정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데이터 플랫폼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기반 현장 집중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중심의 실행 프로세스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09600" y="2476500"/>
            <a:ext cx="2514600" cy="22860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0100" y="2714625"/>
            <a:ext cx="2133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00100" y="3286125"/>
            <a:ext cx="2133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800100" y="3905250"/>
            <a:ext cx="2133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과제 정의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24200" y="3381375"/>
            <a:ext cx="22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52800" y="2476500"/>
            <a:ext cx="2514600" cy="22860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3300" y="2714625"/>
            <a:ext cx="2133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543300" y="3286125"/>
            <a:ext cx="2133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543300" y="3905250"/>
            <a:ext cx="2133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지표·실행안 수립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67400" y="3381375"/>
            <a:ext cx="22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2476500"/>
            <a:ext cx="2514600" cy="22860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0" y="2714625"/>
            <a:ext cx="2133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286500" y="3286125"/>
            <a:ext cx="2133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286500" y="3905250"/>
            <a:ext cx="2133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운영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10600" y="3381375"/>
            <a:ext cx="22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39200" y="2476500"/>
            <a:ext cx="2514600" cy="22860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9700" y="2714625"/>
            <a:ext cx="2133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9029700" y="3286125"/>
            <a:ext cx="2133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029700" y="3905250"/>
            <a:ext cx="2133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표준화·전점 확대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성과 한눈에 보기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09600" y="1809750"/>
            <a:ext cx="5295900" cy="1895475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723900" y="1924050"/>
          <a:ext cx="5067300" cy="1666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497455" y="2557463"/>
            <a:ext cx="152019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3247"/>
                </a:solidFill>
              </a:rPr>
              <a:t>78%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737360" y="3357563"/>
            <a:ext cx="304038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A79"/>
                </a:solidFill>
              </a:rPr>
              <a:t>목표 달성률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96000" y="1809750"/>
            <a:ext cx="5295900" cy="1895475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graphicFrame>
        <p:nvGraphicFramePr>
          <p:cNvPr id="8" name="Chart 1" descr=""/>
          <p:cNvGraphicFramePr/>
          <p:nvPr/>
        </p:nvGraphicFramePr>
        <p:xfrm>
          <a:off x="6210300" y="1924050"/>
          <a:ext cx="5067300" cy="1666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09600" y="3857625"/>
            <a:ext cx="5295900" cy="1895475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graphicFrame>
        <p:nvGraphicFramePr>
          <p:cNvPr id="10" name="Chart 2" descr=""/>
          <p:cNvGraphicFramePr/>
          <p:nvPr/>
        </p:nvGraphicFramePr>
        <p:xfrm>
          <a:off x="723900" y="3971925"/>
          <a:ext cx="5067300" cy="1666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6096000" y="3857625"/>
            <a:ext cx="5295900" cy="1895475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604423" y="4242792"/>
            <a:ext cx="4673177" cy="15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전환율</a:t>
            </a:r>
            <a:endParaRPr lang="en-US" sz="820" dirty="0"/>
          </a:p>
        </p:txBody>
      </p:sp>
      <p:sp>
        <p:nvSpPr>
          <p:cNvPr id="13" name="Text 8"/>
          <p:cNvSpPr/>
          <p:nvPr/>
        </p:nvSpPr>
        <p:spPr>
          <a:xfrm>
            <a:off x="6604423" y="4534495"/>
            <a:ext cx="4673177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8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74.3%</a:t>
            </a:r>
            <a:endParaRPr lang="en-US" sz="3281" dirty="0"/>
          </a:p>
        </p:txBody>
      </p:sp>
      <p:sp>
        <p:nvSpPr>
          <p:cNvPr id="14" name="Text 9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실행을 설계하다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323850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플랫폼과 현장 실행력의 연결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실행 축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09600" y="2000250"/>
            <a:ext cx="3467100" cy="3238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333625"/>
            <a:ext cx="29337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0" b="1" dirty="0">
                <a:solidFill>
                  <a:srgbClr val="193B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경험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876300" y="3238500"/>
            <a:ext cx="293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탐색부터 구매까지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연결되는 고객 여정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67200" y="2000250"/>
            <a:ext cx="3467100" cy="3238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3900" y="2333625"/>
            <a:ext cx="29337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0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효율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4533900" y="3238500"/>
            <a:ext cx="293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 자동화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운영 시간 확보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24800" y="2000250"/>
            <a:ext cx="3467100" cy="3238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1500" y="2333625"/>
            <a:ext cx="29337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0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기반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8191500" y="3238500"/>
            <a:ext cx="293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지표와 플랫폼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 속도 향상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추진 로드맵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09600" y="2476500"/>
            <a:ext cx="2514600" cy="22860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0100" y="2714625"/>
            <a:ext cx="2133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00100" y="3286125"/>
            <a:ext cx="2133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1Q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800100" y="3905250"/>
            <a:ext cx="2133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 구축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24200" y="3381375"/>
            <a:ext cx="22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52800" y="2476500"/>
            <a:ext cx="2514600" cy="22860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3300" y="2714625"/>
            <a:ext cx="2133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543300" y="3286125"/>
            <a:ext cx="2133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2Q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543300" y="3905250"/>
            <a:ext cx="2133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검증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67400" y="3381375"/>
            <a:ext cx="22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2476500"/>
            <a:ext cx="2514600" cy="22860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0" y="2714625"/>
            <a:ext cx="2133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286500" y="3286125"/>
            <a:ext cx="2133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3Q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286500" y="3905250"/>
            <a:ext cx="2133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확산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10600" y="3381375"/>
            <a:ext cx="22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39200" y="2476500"/>
            <a:ext cx="2514600" cy="22860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9700" y="2714625"/>
            <a:ext cx="2133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9029700" y="3286125"/>
            <a:ext cx="2133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4Q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029700" y="3905250"/>
            <a:ext cx="2133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전점 표준화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과제와 책임</a:t>
            </a:r>
            <a:endParaRPr lang="en-US" sz="2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9050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과제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B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B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일정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B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B5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플랫폼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DT 기획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2Q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2A998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매장 자동화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혁신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3Q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2A998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진행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접점 통합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 사업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4Q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32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예정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>
                    <a:lnL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성과 비교</a:t>
            </a:r>
            <a:endParaRPr lang="en-US" sz="285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09600" y="1809750"/>
          <a:ext cx="10972800" cy="3952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점포별 디지털 활용과 성과</a:t>
            </a:r>
            <a:endParaRPr lang="en-US" sz="285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09600" y="1809750"/>
          <a:ext cx="10972800" cy="3952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전후 핵심 지표 비교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9600" y="2373035"/>
            <a:ext cx="1097280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전환</a:t>
            </a:r>
            <a:endParaRPr lang="en-US" sz="1401" dirty="0"/>
          </a:p>
        </p:txBody>
      </p:sp>
      <p:sp>
        <p:nvSpPr>
          <p:cNvPr id="4" name="Shape 2"/>
          <p:cNvSpPr/>
          <p:nvPr/>
        </p:nvSpPr>
        <p:spPr>
          <a:xfrm>
            <a:off x="5559552" y="2501503"/>
            <a:ext cx="3785616" cy="0"/>
          </a:xfrm>
          <a:prstGeom prst="line">
            <a:avLst/>
          </a:prstGeom>
          <a:noFill/>
          <a:ln w="25400">
            <a:solidFill>
              <a:srgbClr val="6382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9824" y="2412563"/>
            <a:ext cx="219456" cy="177879"/>
          </a:xfrm>
          <a:prstGeom prst="ellipse">
            <a:avLst/>
          </a:prstGeom>
          <a:solidFill>
            <a:srgbClr val="63829A"/>
          </a:solidFill>
          <a:ln w="12700">
            <a:solidFill>
              <a:srgbClr val="63829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2412563"/>
            <a:ext cx="219456" cy="177879"/>
          </a:xfrm>
          <a:prstGeom prst="ellipse">
            <a:avLst/>
          </a:prstGeom>
          <a:solidFill>
            <a:srgbClr val="2A9987"/>
          </a:solidFill>
          <a:ln w="12700">
            <a:solidFill>
              <a:srgbClr val="2A998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76672" y="2106216"/>
            <a:ext cx="6205728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1401" dirty="0"/>
          </a:p>
        </p:txBody>
      </p:sp>
      <p:sp>
        <p:nvSpPr>
          <p:cNvPr id="8" name="Text 6"/>
          <p:cNvSpPr/>
          <p:nvPr/>
        </p:nvSpPr>
        <p:spPr>
          <a:xfrm>
            <a:off x="9162288" y="2106216"/>
            <a:ext cx="2420112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</a:t>
            </a:r>
            <a:endParaRPr lang="en-US" sz="1401" dirty="0"/>
          </a:p>
        </p:txBody>
      </p:sp>
      <p:sp>
        <p:nvSpPr>
          <p:cNvPr id="9" name="Text 7"/>
          <p:cNvSpPr/>
          <p:nvPr/>
        </p:nvSpPr>
        <p:spPr>
          <a:xfrm>
            <a:off x="609600" y="3361253"/>
            <a:ext cx="1097280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재방문</a:t>
            </a:r>
            <a:endParaRPr lang="en-US" sz="1401" dirty="0"/>
          </a:p>
        </p:txBody>
      </p:sp>
      <p:sp>
        <p:nvSpPr>
          <p:cNvPr id="10" name="Shape 8"/>
          <p:cNvSpPr/>
          <p:nvPr/>
        </p:nvSpPr>
        <p:spPr>
          <a:xfrm>
            <a:off x="6926580" y="3489722"/>
            <a:ext cx="3470148" cy="0"/>
          </a:xfrm>
          <a:prstGeom prst="line">
            <a:avLst/>
          </a:prstGeom>
          <a:noFill/>
          <a:ln w="25400">
            <a:solidFill>
              <a:srgbClr val="6382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6852" y="3400782"/>
            <a:ext cx="219456" cy="177879"/>
          </a:xfrm>
          <a:prstGeom prst="ellipse">
            <a:avLst/>
          </a:prstGeom>
          <a:solidFill>
            <a:srgbClr val="63829A"/>
          </a:solidFill>
          <a:ln w="12700">
            <a:solidFill>
              <a:srgbClr val="63829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0" y="3400782"/>
            <a:ext cx="219456" cy="177879"/>
          </a:xfrm>
          <a:prstGeom prst="ellipse">
            <a:avLst/>
          </a:prstGeom>
          <a:solidFill>
            <a:srgbClr val="2A9987"/>
          </a:solidFill>
          <a:ln w="12700">
            <a:solidFill>
              <a:srgbClr val="2A998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3700" y="3094434"/>
            <a:ext cx="483870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1401" dirty="0"/>
          </a:p>
        </p:txBody>
      </p:sp>
      <p:sp>
        <p:nvSpPr>
          <p:cNvPr id="14" name="Text 12"/>
          <p:cNvSpPr/>
          <p:nvPr/>
        </p:nvSpPr>
        <p:spPr>
          <a:xfrm>
            <a:off x="10213848" y="3094434"/>
            <a:ext cx="1368552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</a:t>
            </a:r>
            <a:endParaRPr lang="en-US" sz="1401" dirty="0"/>
          </a:p>
        </p:txBody>
      </p:sp>
      <p:sp>
        <p:nvSpPr>
          <p:cNvPr id="15" name="Text 13"/>
          <p:cNvSpPr/>
          <p:nvPr/>
        </p:nvSpPr>
        <p:spPr>
          <a:xfrm>
            <a:off x="609600" y="4349472"/>
            <a:ext cx="1097280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효율</a:t>
            </a:r>
            <a:endParaRPr lang="en-US" sz="1401" dirty="0"/>
          </a:p>
        </p:txBody>
      </p:sp>
      <p:sp>
        <p:nvSpPr>
          <p:cNvPr id="16" name="Shape 14"/>
          <p:cNvSpPr/>
          <p:nvPr/>
        </p:nvSpPr>
        <p:spPr>
          <a:xfrm>
            <a:off x="5138928" y="4477941"/>
            <a:ext cx="3575304" cy="0"/>
          </a:xfrm>
          <a:prstGeom prst="line">
            <a:avLst/>
          </a:prstGeom>
          <a:noFill/>
          <a:ln w="25400">
            <a:solidFill>
              <a:srgbClr val="6382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4389001"/>
            <a:ext cx="219456" cy="177879"/>
          </a:xfrm>
          <a:prstGeom prst="ellipse">
            <a:avLst/>
          </a:prstGeom>
          <a:solidFill>
            <a:srgbClr val="63829A"/>
          </a:solidFill>
          <a:ln w="12700">
            <a:solidFill>
              <a:srgbClr val="63829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4389001"/>
            <a:ext cx="219456" cy="177879"/>
          </a:xfrm>
          <a:prstGeom prst="ellipse">
            <a:avLst/>
          </a:prstGeom>
          <a:solidFill>
            <a:srgbClr val="2A9987"/>
          </a:solidFill>
          <a:ln w="12700">
            <a:solidFill>
              <a:srgbClr val="2A998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4082653"/>
            <a:ext cx="6626352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1401" dirty="0"/>
          </a:p>
        </p:txBody>
      </p:sp>
      <p:sp>
        <p:nvSpPr>
          <p:cNvPr id="20" name="Text 18"/>
          <p:cNvSpPr/>
          <p:nvPr/>
        </p:nvSpPr>
        <p:spPr>
          <a:xfrm>
            <a:off x="8531352" y="4082653"/>
            <a:ext cx="3051048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</a:t>
            </a:r>
            <a:endParaRPr lang="en-US" sz="1401" dirty="0"/>
          </a:p>
        </p:txBody>
      </p:sp>
      <p:sp>
        <p:nvSpPr>
          <p:cNvPr id="21" name="Text 19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포트폴리오 구성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914400" y="1957983"/>
            <a:ext cx="4317187" cy="3261122"/>
          </a:xfrm>
          <a:prstGeom prst="rect">
            <a:avLst/>
          </a:prstGeom>
          <a:solidFill>
            <a:srgbClr val="193B53"/>
          </a:solidFill>
          <a:ln w="12700">
            <a:solidFill>
              <a:srgbClr val="193B5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5088" y="2076569"/>
            <a:ext cx="10497312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</a:t>
            </a:r>
            <a:endParaRPr lang="en-US" sz="1401" dirty="0"/>
          </a:p>
        </p:txBody>
      </p:sp>
      <p:sp>
        <p:nvSpPr>
          <p:cNvPr id="5" name="Text 3"/>
          <p:cNvSpPr/>
          <p:nvPr/>
        </p:nvSpPr>
        <p:spPr>
          <a:xfrm>
            <a:off x="1085088" y="2313742"/>
            <a:ext cx="10497312" cy="32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1712" dirty="0"/>
          </a:p>
        </p:txBody>
      </p:sp>
      <p:sp>
        <p:nvSpPr>
          <p:cNvPr id="6" name="Shape 4"/>
          <p:cNvSpPr/>
          <p:nvPr/>
        </p:nvSpPr>
        <p:spPr>
          <a:xfrm>
            <a:off x="5292547" y="1957983"/>
            <a:ext cx="4942637" cy="1881733"/>
          </a:xfrm>
          <a:prstGeom prst="rect">
            <a:avLst/>
          </a:prstGeom>
          <a:solidFill>
            <a:srgbClr val="2A9987"/>
          </a:solidFill>
          <a:ln w="12700">
            <a:solidFill>
              <a:srgbClr val="2A998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3235" y="2076569"/>
            <a:ext cx="6119165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1401" dirty="0"/>
          </a:p>
        </p:txBody>
      </p:sp>
      <p:sp>
        <p:nvSpPr>
          <p:cNvPr id="8" name="Text 6"/>
          <p:cNvSpPr/>
          <p:nvPr/>
        </p:nvSpPr>
        <p:spPr>
          <a:xfrm>
            <a:off x="5463235" y="2313742"/>
            <a:ext cx="6119165" cy="32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1712" dirty="0"/>
          </a:p>
        </p:txBody>
      </p:sp>
      <p:sp>
        <p:nvSpPr>
          <p:cNvPr id="9" name="Shape 7"/>
          <p:cNvSpPr/>
          <p:nvPr/>
        </p:nvSpPr>
        <p:spPr>
          <a:xfrm>
            <a:off x="5292547" y="3889127"/>
            <a:ext cx="4942637" cy="1329978"/>
          </a:xfrm>
          <a:prstGeom prst="rect">
            <a:avLst/>
          </a:prstGeom>
          <a:solidFill>
            <a:srgbClr val="193B53"/>
          </a:solidFill>
          <a:ln w="12700">
            <a:solidFill>
              <a:srgbClr val="193B5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3235" y="4007713"/>
            <a:ext cx="6119165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401" dirty="0"/>
          </a:p>
        </p:txBody>
      </p:sp>
      <p:sp>
        <p:nvSpPr>
          <p:cNvPr id="11" name="Text 9"/>
          <p:cNvSpPr/>
          <p:nvPr/>
        </p:nvSpPr>
        <p:spPr>
          <a:xfrm>
            <a:off x="5463235" y="4244886"/>
            <a:ext cx="6119165" cy="32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712" dirty="0"/>
          </a:p>
        </p:txBody>
      </p:sp>
      <p:sp>
        <p:nvSpPr>
          <p:cNvPr id="12" name="Shape 10"/>
          <p:cNvSpPr/>
          <p:nvPr/>
        </p:nvSpPr>
        <p:spPr>
          <a:xfrm>
            <a:off x="10296144" y="1957983"/>
            <a:ext cx="981456" cy="3261122"/>
          </a:xfrm>
          <a:prstGeom prst="rect">
            <a:avLst/>
          </a:prstGeom>
          <a:solidFill>
            <a:srgbClr val="2A9987"/>
          </a:solidFill>
          <a:ln w="12700">
            <a:solidFill>
              <a:srgbClr val="2A998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66832" y="2076569"/>
            <a:ext cx="1115568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</a:t>
            </a:r>
            <a:endParaRPr lang="en-US" sz="1401" dirty="0"/>
          </a:p>
        </p:txBody>
      </p:sp>
      <p:sp>
        <p:nvSpPr>
          <p:cNvPr id="14" name="Text 12"/>
          <p:cNvSpPr/>
          <p:nvPr/>
        </p:nvSpPr>
        <p:spPr>
          <a:xfrm>
            <a:off x="10466832" y="2313742"/>
            <a:ext cx="1115568" cy="32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712" dirty="0"/>
          </a:p>
        </p:txBody>
      </p:sp>
      <p:sp>
        <p:nvSpPr>
          <p:cNvPr id="15" name="Text 13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구매 전환 흐름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1463040" y="2007394"/>
            <a:ext cx="9265920" cy="701635"/>
          </a:xfrm>
          <a:prstGeom prst="rect">
            <a:avLst/>
          </a:prstGeom>
          <a:solidFill>
            <a:srgbClr val="193B53"/>
          </a:solidFill>
          <a:ln w="12700">
            <a:solidFill>
              <a:srgbClr val="193B5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0" y="2145744"/>
            <a:ext cx="664464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  1,000</a:t>
            </a:r>
            <a:endParaRPr lang="en-US" sz="1401" dirty="0"/>
          </a:p>
        </p:txBody>
      </p:sp>
      <p:sp>
        <p:nvSpPr>
          <p:cNvPr id="5" name="Shape 3"/>
          <p:cNvSpPr/>
          <p:nvPr/>
        </p:nvSpPr>
        <p:spPr>
          <a:xfrm>
            <a:off x="2760269" y="2797969"/>
            <a:ext cx="6671462" cy="701635"/>
          </a:xfrm>
          <a:prstGeom prst="rect">
            <a:avLst/>
          </a:prstGeom>
          <a:solidFill>
            <a:srgbClr val="2A9987"/>
          </a:solidFill>
          <a:ln w="12700">
            <a:solidFill>
              <a:srgbClr val="2A998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2936319"/>
            <a:ext cx="664464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 720</a:t>
            </a:r>
            <a:endParaRPr lang="en-US" sz="1401" dirty="0"/>
          </a:p>
        </p:txBody>
      </p:sp>
      <p:sp>
        <p:nvSpPr>
          <p:cNvPr id="7" name="Shape 5"/>
          <p:cNvSpPr/>
          <p:nvPr/>
        </p:nvSpPr>
        <p:spPr>
          <a:xfrm>
            <a:off x="3964838" y="3588544"/>
            <a:ext cx="4262323" cy="701635"/>
          </a:xfrm>
          <a:prstGeom prst="rect">
            <a:avLst/>
          </a:prstGeom>
          <a:solidFill>
            <a:srgbClr val="193B53"/>
          </a:solidFill>
          <a:ln w="12700">
            <a:solidFill>
              <a:srgbClr val="193B5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3726894"/>
            <a:ext cx="664464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 460</a:t>
            </a:r>
            <a:endParaRPr lang="en-US" sz="1401" dirty="0"/>
          </a:p>
        </p:txBody>
      </p:sp>
      <p:sp>
        <p:nvSpPr>
          <p:cNvPr id="9" name="Shape 7"/>
          <p:cNvSpPr/>
          <p:nvPr/>
        </p:nvSpPr>
        <p:spPr>
          <a:xfrm>
            <a:off x="4798771" y="4379119"/>
            <a:ext cx="2594458" cy="701635"/>
          </a:xfrm>
          <a:prstGeom prst="rect">
            <a:avLst/>
          </a:prstGeom>
          <a:solidFill>
            <a:srgbClr val="2A9987"/>
          </a:solidFill>
          <a:ln w="12700">
            <a:solidFill>
              <a:srgbClr val="2A998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4517469"/>
            <a:ext cx="664464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 280</a:t>
            </a:r>
            <a:endParaRPr lang="en-US" sz="1401" dirty="0"/>
          </a:p>
        </p:txBody>
      </p:sp>
      <p:sp>
        <p:nvSpPr>
          <p:cNvPr id="11" name="Text 9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권역별 실행 성과</a:t>
            </a:r>
            <a:endParaRPr lang="en-US" sz="285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09600" y="1809750"/>
          <a:ext cx="10972800" cy="3952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과제 진행률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9600" y="2244566"/>
            <a:ext cx="1097280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</a:t>
            </a:r>
            <a:endParaRPr lang="en-US" sz="1401" dirty="0"/>
          </a:p>
        </p:txBody>
      </p:sp>
      <p:sp>
        <p:nvSpPr>
          <p:cNvPr id="4" name="Shape 2"/>
          <p:cNvSpPr/>
          <p:nvPr/>
        </p:nvSpPr>
        <p:spPr>
          <a:xfrm>
            <a:off x="2194560" y="2205038"/>
            <a:ext cx="8412480" cy="276701"/>
          </a:xfrm>
          <a:prstGeom prst="rect">
            <a:avLst/>
          </a:prstGeom>
          <a:solidFill>
            <a:srgbClr val="E7F0F4"/>
          </a:solidFill>
          <a:ln w="12700">
            <a:solidFill>
              <a:srgbClr val="E7F0F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2205038"/>
            <a:ext cx="7150608" cy="276701"/>
          </a:xfrm>
          <a:prstGeom prst="rect">
            <a:avLst/>
          </a:prstGeom>
          <a:solidFill>
            <a:srgbClr val="193B53"/>
          </a:solidFill>
          <a:ln w="12700">
            <a:solidFill>
              <a:srgbClr val="193B5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28960" y="2254448"/>
            <a:ext cx="853440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3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85%</a:t>
            </a:r>
            <a:endParaRPr lang="en-US" sz="1323" dirty="0"/>
          </a:p>
        </p:txBody>
      </p:sp>
      <p:sp>
        <p:nvSpPr>
          <p:cNvPr id="7" name="Text 5"/>
          <p:cNvSpPr/>
          <p:nvPr/>
        </p:nvSpPr>
        <p:spPr>
          <a:xfrm>
            <a:off x="609600" y="3232785"/>
            <a:ext cx="1097280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적용</a:t>
            </a:r>
            <a:endParaRPr lang="en-US" sz="1401" dirty="0"/>
          </a:p>
        </p:txBody>
      </p:sp>
      <p:sp>
        <p:nvSpPr>
          <p:cNvPr id="8" name="Shape 6"/>
          <p:cNvSpPr/>
          <p:nvPr/>
        </p:nvSpPr>
        <p:spPr>
          <a:xfrm>
            <a:off x="2194560" y="3193256"/>
            <a:ext cx="8412480" cy="276701"/>
          </a:xfrm>
          <a:prstGeom prst="rect">
            <a:avLst/>
          </a:prstGeom>
          <a:solidFill>
            <a:srgbClr val="E7F0F4"/>
          </a:solidFill>
          <a:ln w="12700">
            <a:solidFill>
              <a:srgbClr val="E7F0F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193256"/>
            <a:ext cx="5383987" cy="276701"/>
          </a:xfrm>
          <a:prstGeom prst="rect">
            <a:avLst/>
          </a:prstGeom>
          <a:solidFill>
            <a:srgbClr val="2A9987"/>
          </a:solidFill>
          <a:ln w="12700">
            <a:solidFill>
              <a:srgbClr val="2A998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28960" y="3242667"/>
            <a:ext cx="853440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3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64%</a:t>
            </a:r>
            <a:endParaRPr lang="en-US" sz="1323" dirty="0"/>
          </a:p>
        </p:txBody>
      </p:sp>
      <p:sp>
        <p:nvSpPr>
          <p:cNvPr id="11" name="Text 9"/>
          <p:cNvSpPr/>
          <p:nvPr/>
        </p:nvSpPr>
        <p:spPr>
          <a:xfrm>
            <a:off x="609600" y="4221004"/>
            <a:ext cx="10972800" cy="26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1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endParaRPr lang="en-US" sz="1401" dirty="0"/>
          </a:p>
        </p:txBody>
      </p:sp>
      <p:sp>
        <p:nvSpPr>
          <p:cNvPr id="12" name="Shape 10"/>
          <p:cNvSpPr/>
          <p:nvPr/>
        </p:nvSpPr>
        <p:spPr>
          <a:xfrm>
            <a:off x="2194560" y="4181475"/>
            <a:ext cx="8412480" cy="276701"/>
          </a:xfrm>
          <a:prstGeom prst="rect">
            <a:avLst/>
          </a:prstGeom>
          <a:solidFill>
            <a:srgbClr val="E7F0F4"/>
          </a:solidFill>
          <a:ln w="12700">
            <a:solidFill>
              <a:srgbClr val="E7F0F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4181475"/>
            <a:ext cx="7739482" cy="276701"/>
          </a:xfrm>
          <a:prstGeom prst="rect">
            <a:avLst/>
          </a:prstGeom>
          <a:solidFill>
            <a:srgbClr val="193B53"/>
          </a:solidFill>
          <a:ln w="12700">
            <a:solidFill>
              <a:srgbClr val="193B5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28960" y="4230886"/>
            <a:ext cx="853440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3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</a:t>
            </a:r>
            <a:endParaRPr lang="en-US" sz="1323" dirty="0"/>
          </a:p>
        </p:txBody>
      </p:sp>
      <p:sp>
        <p:nvSpPr>
          <p:cNvPr id="15" name="Text 13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업무 생산성 변화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1828800" y="2461974"/>
            <a:ext cx="9753600" cy="28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8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478" dirty="0"/>
          </a:p>
        </p:txBody>
      </p:sp>
      <p:sp>
        <p:nvSpPr>
          <p:cNvPr id="4" name="Text 2"/>
          <p:cNvSpPr/>
          <p:nvPr/>
        </p:nvSpPr>
        <p:spPr>
          <a:xfrm>
            <a:off x="7437120" y="2461974"/>
            <a:ext cx="4145280" cy="28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8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478" dirty="0"/>
          </a:p>
        </p:txBody>
      </p:sp>
      <p:sp>
        <p:nvSpPr>
          <p:cNvPr id="5" name="Text 3"/>
          <p:cNvSpPr/>
          <p:nvPr/>
        </p:nvSpPr>
        <p:spPr>
          <a:xfrm>
            <a:off x="1828800" y="3015377"/>
            <a:ext cx="9753600" cy="130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8" dirty="0">
                <a:solidFill>
                  <a:srgbClr val="6382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6848" dirty="0"/>
          </a:p>
        </p:txBody>
      </p:sp>
      <p:sp>
        <p:nvSpPr>
          <p:cNvPr id="6" name="Text 4"/>
          <p:cNvSpPr/>
          <p:nvPr/>
        </p:nvSpPr>
        <p:spPr>
          <a:xfrm>
            <a:off x="7437120" y="3015377"/>
            <a:ext cx="4145280" cy="130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48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</a:t>
            </a:r>
            <a:endParaRPr lang="en-US" sz="6848" dirty="0"/>
          </a:p>
        </p:txBody>
      </p:sp>
      <p:sp>
        <p:nvSpPr>
          <p:cNvPr id="7" name="Text 5"/>
          <p:cNvSpPr/>
          <p:nvPr/>
        </p:nvSpPr>
        <p:spPr>
          <a:xfrm>
            <a:off x="5791200" y="3292078"/>
            <a:ext cx="5791200" cy="66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2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3502" dirty="0"/>
          </a:p>
        </p:txBody>
      </p:sp>
      <p:sp>
        <p:nvSpPr>
          <p:cNvPr id="8" name="Text 6"/>
          <p:cNvSpPr/>
          <p:nvPr/>
        </p:nvSpPr>
        <p:spPr>
          <a:xfrm>
            <a:off x="1828800" y="4458176"/>
            <a:ext cx="9753600" cy="32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2" dirty="0">
                <a:solidFill>
                  <a:srgbClr val="526A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업무 처리 · 건/시간</a:t>
            </a:r>
            <a:endParaRPr lang="en-US" sz="1712" dirty="0"/>
          </a:p>
        </p:txBody>
      </p:sp>
      <p:sp>
        <p:nvSpPr>
          <p:cNvPr id="9" name="Text 7"/>
          <p:cNvSpPr/>
          <p:nvPr/>
        </p:nvSpPr>
        <p:spPr>
          <a:xfrm>
            <a:off x="7437120" y="4438412"/>
            <a:ext cx="4145280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8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 +26</a:t>
            </a:r>
            <a:endParaRPr lang="en-US" sz="1868" dirty="0"/>
          </a:p>
        </p:txBody>
      </p:sp>
      <p:sp>
        <p:nvSpPr>
          <p:cNvPr id="10" name="Text 8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F4F8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Digital Operations Monitor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09600" y="1809750"/>
            <a:ext cx="5295900" cy="1895475"/>
          </a:xfrm>
          <a:prstGeom prst="rect">
            <a:avLst/>
          </a:prstGeom>
          <a:solidFill>
            <a:srgbClr val="102C40"/>
          </a:solidFill>
          <a:ln w="8890">
            <a:solidFill>
              <a:srgbClr val="63829A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723900" y="1924050"/>
          <a:ext cx="5067300" cy="1666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497455" y="2557463"/>
            <a:ext cx="152019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8FA"/>
                </a:solidFill>
              </a:rPr>
              <a:t>78%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737360" y="3357563"/>
            <a:ext cx="304038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A"/>
                </a:solidFill>
              </a:rPr>
              <a:t>목표 달성률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96000" y="1809750"/>
            <a:ext cx="5295900" cy="1895475"/>
          </a:xfrm>
          <a:prstGeom prst="rect">
            <a:avLst/>
          </a:prstGeom>
          <a:solidFill>
            <a:srgbClr val="102C40"/>
          </a:solidFill>
          <a:ln w="8890">
            <a:solidFill>
              <a:srgbClr val="63829A"/>
            </a:solidFill>
            <a:prstDash val="solid"/>
          </a:ln>
        </p:spPr>
      </p:sp>
      <p:graphicFrame>
        <p:nvGraphicFramePr>
          <p:cNvPr id="8" name="Chart 1" descr=""/>
          <p:cNvGraphicFramePr/>
          <p:nvPr/>
        </p:nvGraphicFramePr>
        <p:xfrm>
          <a:off x="6210300" y="1924050"/>
          <a:ext cx="5067300" cy="1666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09600" y="3857625"/>
            <a:ext cx="5295900" cy="1895475"/>
          </a:xfrm>
          <a:prstGeom prst="rect">
            <a:avLst/>
          </a:prstGeom>
          <a:solidFill>
            <a:srgbClr val="102C40"/>
          </a:solidFill>
          <a:ln w="8890">
            <a:solidFill>
              <a:srgbClr val="63829A"/>
            </a:solidFill>
            <a:prstDash val="solid"/>
          </a:ln>
        </p:spPr>
      </p:sp>
      <p:graphicFrame>
        <p:nvGraphicFramePr>
          <p:cNvPr id="10" name="Chart 2" descr=""/>
          <p:cNvGraphicFramePr/>
          <p:nvPr/>
        </p:nvGraphicFramePr>
        <p:xfrm>
          <a:off x="723900" y="3971925"/>
          <a:ext cx="5067300" cy="1666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6096000" y="3857625"/>
            <a:ext cx="5295900" cy="1895475"/>
          </a:xfrm>
          <a:prstGeom prst="rect">
            <a:avLst/>
          </a:prstGeom>
          <a:solidFill>
            <a:srgbClr val="102C40"/>
          </a:solidFill>
          <a:ln w="8890">
            <a:solidFill>
              <a:srgbClr val="63829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604423" y="4242792"/>
            <a:ext cx="4673177" cy="15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4F8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전환율</a:t>
            </a:r>
            <a:endParaRPr lang="en-US" sz="820" dirty="0"/>
          </a:p>
        </p:txBody>
      </p:sp>
      <p:sp>
        <p:nvSpPr>
          <p:cNvPr id="13" name="Text 8"/>
          <p:cNvSpPr/>
          <p:nvPr/>
        </p:nvSpPr>
        <p:spPr>
          <a:xfrm>
            <a:off x="6604423" y="4534495"/>
            <a:ext cx="4673177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8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74.3%</a:t>
            </a:r>
            <a:endParaRPr lang="en-US" sz="3281" dirty="0"/>
          </a:p>
        </p:txBody>
      </p:sp>
      <p:sp>
        <p:nvSpPr>
          <p:cNvPr id="14" name="Text 9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4350"/>
            <a:ext cx="1097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실행으로 연결합니다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10972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0" b="1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검증하고, 빠르게 확산합니다.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3714750"/>
            <a:ext cx="3505200" cy="1714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200" y="394335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38200" y="44577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성과 기준 확정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3714750"/>
            <a:ext cx="3505200" cy="1714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394335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572000" y="44577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피드백 주간 반영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77200" y="3714750"/>
            <a:ext cx="3505200" cy="1714500"/>
          </a:xfrm>
          <a:prstGeom prst="rect">
            <a:avLst/>
          </a:prstGeom>
          <a:solidFill>
            <a:srgbClr val="E7F0F4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5800" y="394335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2A99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305800" y="44577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2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단위 확산 성과 점검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626745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시연용 가상 데이터 · 실제 회사 실적과 무관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26745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D98"/>
                </a:solidFill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Seven Eleven DT</dc:title>
  <dc:subject>Static editable presentation</dc:subject>
  <dc:creator>Digital Transformation Office</dc:creator>
  <cp:lastModifiedBy>Digital Transformation Office</cp:lastModifiedBy>
  <cp:revision>1</cp:revision>
  <dcterms:created xsi:type="dcterms:W3CDTF">2026-10-19T04:55:42Z</dcterms:created>
  <dcterms:modified xsi:type="dcterms:W3CDTF">2026-10-19T04:55:42Z</dcterms:modified>
</cp:coreProperties>
</file>